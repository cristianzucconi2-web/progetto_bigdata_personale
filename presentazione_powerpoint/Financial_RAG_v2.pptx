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59" r:id="rId6"/>
    <p:sldId id="261" r:id="rId7"/>
    <p:sldId id="262" r:id="rId8"/>
    <p:sldId id="273" r:id="rId9"/>
    <p:sldId id="264" r:id="rId10"/>
    <p:sldId id="274" r:id="rId11"/>
    <p:sldId id="265" r:id="rId12"/>
    <p:sldId id="27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850BDC-2C7E-8547-A813-B3137917FF58}" v="27" dt="2026-09-23T15:20:59.7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45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91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7C962-E520-5426-986A-79163B7C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3FC43-7102-DD07-4E5A-ECDA736F6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71A0C-8CEC-99A8-83F2-3C4074672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A0D73-6EBC-8711-A48F-38AF8386D2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78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00B1-A057-3EF5-4763-531D641E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6C57C-D72E-301D-5BA7-BB6FCF7BB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B4128-ADFB-A972-69CE-E9A3396FA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DDA53-F5E7-96F1-EC0D-78637DC7C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84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C928-AEAA-719B-61CC-ECF47299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F2E39-6F1E-53BC-CDE0-E68853A01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C4604-AC2F-EFC6-ACDD-4846964B7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5A238-1AC4-6D95-71F0-AE5830F88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98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F3C93-AB0B-903D-AC7F-B14AE606F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FB64B-1835-F212-EC99-41E3C588B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0D126-E617-BD20-760D-496EE6ECD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169C4-E636-9944-9709-3F4805583F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83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41605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Un'architettura adattiva con Guarded Generation e Self-Correction per l'analisi comparativa di bilanci su </a:t>
            </a:r>
            <a:r>
              <a:rPr lang="en-US" sz="1700" i="1" dirty="0" err="1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larga</a:t>
            </a:r>
            <a:r>
              <a:rPr lang="en-US" sz="1700" i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scala</a:t>
            </a:r>
            <a:endParaRPr lang="en-US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733195" y="6021638"/>
            <a:ext cx="2007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Cristian Zucconi</a:t>
            </a:r>
            <a:endParaRPr lang="en-US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690606AC-1F9E-3D82-2122-E28ED715FAE2}"/>
              </a:ext>
            </a:extLst>
          </p:cNvPr>
          <p:cNvSpPr txBox="1"/>
          <p:nvPr/>
        </p:nvSpPr>
        <p:spPr>
          <a:xfrm>
            <a:off x="548640" y="1097280"/>
            <a:ext cx="9601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CFE0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RAG for Temporal Financial Analytics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945972"/>
            <a:ext cx="649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Il progetto affronta l'interrogazione analitico-quantitativa e la comparazione multi-anno e cross-azienda su bilanci ufficiali (Form 10-K / 20-F depositati presso la SEC). I sistemi RAG convenzionali falliscono per l'inquinamento da allegati legali, la diluizione semantica delle query e le allucinazioni nei confronti tra competitor.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0" y="149047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9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589520" y="203911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Bilanci annuali indicizzati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60920" y="265176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0" y="272491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9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589520" y="32735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Multinazionali globali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60920" y="388620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0" y="395935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9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132.183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589520" y="45079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Chunk semantici generati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60920" y="512064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0" y="519379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9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anni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589520" y="57424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Orizzonte 2018 – 2025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B251506C-414C-829A-037E-9CEE5CB9E42A}"/>
              </a:ext>
            </a:extLst>
          </p:cNvPr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CFE0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Introduzione</a:t>
            </a:r>
            <a:r>
              <a:rPr lang="en-US" sz="3800" b="1" dirty="0">
                <a:solidFill>
                  <a:srgbClr val="CFE0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&amp; </a:t>
            </a:r>
            <a:r>
              <a:rPr lang="en-US" sz="3800" b="1" dirty="0" err="1">
                <a:solidFill>
                  <a:srgbClr val="CFE0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Obiettivi</a:t>
            </a:r>
            <a:endParaRPr lang="en-US" sz="38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5809316B-918A-A910-3CD1-11B7E29A0C4F}"/>
              </a:ext>
            </a:extLst>
          </p:cNvPr>
          <p:cNvSpPr/>
          <p:nvPr/>
        </p:nvSpPr>
        <p:spPr>
          <a:xfrm>
            <a:off x="534353" y="1514475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La </a:t>
            </a:r>
            <a:r>
              <a:rPr lang="en-US" sz="2400" b="1" dirty="0" err="1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Sfida</a:t>
            </a:r>
            <a:r>
              <a:rPr lang="en-US" sz="24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2400" b="1" dirty="0" err="1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Finanziaria</a:t>
            </a:r>
            <a:r>
              <a:rPr lang="en-US" sz="24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…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A5B2A9F4-4DA4-1371-1193-ADC2118694A7}"/>
              </a:ext>
            </a:extLst>
          </p:cNvPr>
          <p:cNvSpPr/>
          <p:nvPr/>
        </p:nvSpPr>
        <p:spPr>
          <a:xfrm>
            <a:off x="543878" y="460205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Il </a:t>
            </a:r>
            <a:r>
              <a:rPr lang="en-US" sz="2400" b="1" dirty="0" err="1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Fallimento</a:t>
            </a:r>
            <a:r>
              <a:rPr lang="en-US" sz="24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della Naive RAG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E8DABC70-9BAD-AD90-FCA7-6D5C72093F31}"/>
              </a:ext>
            </a:extLst>
          </p:cNvPr>
          <p:cNvSpPr/>
          <p:nvPr/>
        </p:nvSpPr>
        <p:spPr>
          <a:xfrm>
            <a:off x="558164" y="5035448"/>
            <a:ext cx="6492240" cy="100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I sistemi RAG convenzionali falliscono per l'inquinamento da allegati legali, la diluizione semantica delle query e le allucinazioni nei confronti tra competitor.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Le “V” Coinvolte</a:t>
            </a:r>
            <a:endParaRPr lang="en-US" sz="38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In conformità con i requisiti del corso, il progetto indirizza il Volume combinato con Veracity (requisito primario nel dominio finanziario), Variety (dati eterogenei e standard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contabili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multipli) e Velocity.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Volume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106 bilanci di 22 aziende, 8 anni di storico, 132.183 chunk vettorializzati. Storage ibrido locale + AWS S3 (s3://miei-bilanci-rag-10k).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63640" y="21488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2286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Veracity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92240" y="26974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Filtraggio deterministico su metadati societari/temporali e Self-Correction con Financial Auditor: Faithfulness Score 0–100%.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480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Variety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48920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Standard US GAAP (10-K) e IFRS (20-F), valute multiple ($/€), sezioni narrative e rendiconti quantitativi ultra-densi.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63640" y="43434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4480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Velocity</a:t>
            </a:r>
            <a:endParaRPr lang="en-US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92240" y="48920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Retrieval HNSW su ChromaDB: tempo di risposta del motore vettoriale inferiore a 300 ms per query multi-filtro.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845A8-BA9B-1D10-BAB1-C861D3FFF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3">
            <a:extLst>
              <a:ext uri="{FF2B5EF4-FFF2-40B4-BE49-F238E27FC236}">
                <a16:creationId xmlns:a16="http://schemas.microsoft.com/office/drawing/2014/main" id="{55AEFF7C-BCCF-9B0C-5F3A-54B26BB67EE3}"/>
              </a:ext>
            </a:extLst>
          </p:cNvPr>
          <p:cNvSpPr txBox="1"/>
          <p:nvPr/>
        </p:nvSpPr>
        <p:spPr>
          <a:xfrm>
            <a:off x="1957388" y="19859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67" name="Text 0">
            <a:extLst>
              <a:ext uri="{FF2B5EF4-FFF2-40B4-BE49-F238E27FC236}">
                <a16:creationId xmlns:a16="http://schemas.microsoft.com/office/drawing/2014/main" id="{E589C157-0C7E-9251-D192-6CA191162E0E}"/>
              </a:ext>
            </a:extLst>
          </p:cNvPr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FE0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Architetturale</a:t>
            </a:r>
            <a:endParaRPr lang="en-US" sz="3800" dirty="0"/>
          </a:p>
        </p:txBody>
      </p:sp>
      <p:sp>
        <p:nvSpPr>
          <p:cNvPr id="268" name="Shape 1">
            <a:extLst>
              <a:ext uri="{FF2B5EF4-FFF2-40B4-BE49-F238E27FC236}">
                <a16:creationId xmlns:a16="http://schemas.microsoft.com/office/drawing/2014/main" id="{1AE6FC3E-D501-E535-3A6D-2D73D56F2063}"/>
              </a:ext>
            </a:extLst>
          </p:cNvPr>
          <p:cNvSpPr/>
          <p:nvPr/>
        </p:nvSpPr>
        <p:spPr>
          <a:xfrm>
            <a:off x="457200" y="1417320"/>
            <a:ext cx="3566160" cy="5120640"/>
          </a:xfrm>
          <a:prstGeom prst="roundRect">
            <a:avLst>
              <a:gd name="adj" fmla="val 8974"/>
            </a:avLst>
          </a:prstGeom>
          <a:solidFill>
            <a:srgbClr val="0B2646"/>
          </a:solidFill>
          <a:ln w="15875">
            <a:solidFill>
              <a:srgbClr val="5C7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">
            <a:extLst>
              <a:ext uri="{FF2B5EF4-FFF2-40B4-BE49-F238E27FC236}">
                <a16:creationId xmlns:a16="http://schemas.microsoft.com/office/drawing/2014/main" id="{06FF6702-786A-1D6F-FFAD-024CF51C9FDD}"/>
              </a:ext>
            </a:extLst>
          </p:cNvPr>
          <p:cNvSpPr/>
          <p:nvPr/>
        </p:nvSpPr>
        <p:spPr>
          <a:xfrm>
            <a:off x="1984248" y="1161288"/>
            <a:ext cx="512064" cy="512064"/>
          </a:xfrm>
          <a:prstGeom prst="ellipse">
            <a:avLst/>
          </a:prstGeom>
          <a:solidFill>
            <a:srgbClr val="0B2646"/>
          </a:solidFill>
          <a:ln w="19050">
            <a:solidFill>
              <a:srgbClr val="D9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Text 3">
            <a:extLst>
              <a:ext uri="{FF2B5EF4-FFF2-40B4-BE49-F238E27FC236}">
                <a16:creationId xmlns:a16="http://schemas.microsoft.com/office/drawing/2014/main" id="{068CD071-FD1A-AC72-62CB-B07518EAC7CA}"/>
              </a:ext>
            </a:extLst>
          </p:cNvPr>
          <p:cNvSpPr txBox="1"/>
          <p:nvPr/>
        </p:nvSpPr>
        <p:spPr>
          <a:xfrm>
            <a:off x="1984248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9E6F5"/>
                </a:solidFill>
                <a:latin typeface="Calibri" pitchFamily="34" charset="0"/>
                <a:cs typeface="Calibri" pitchFamily="34" charset="-120"/>
              </a:rPr>
              <a:t>1</a:t>
            </a:r>
            <a:endParaRPr lang="en-US" b="1" dirty="0"/>
          </a:p>
        </p:txBody>
      </p:sp>
      <p:sp>
        <p:nvSpPr>
          <p:cNvPr id="271" name="Text 4">
            <a:extLst>
              <a:ext uri="{FF2B5EF4-FFF2-40B4-BE49-F238E27FC236}">
                <a16:creationId xmlns:a16="http://schemas.microsoft.com/office/drawing/2014/main" id="{FCD916C5-27DF-17C4-C9DC-0FEFE43D76F3}"/>
              </a:ext>
            </a:extLst>
          </p:cNvPr>
          <p:cNvSpPr txBox="1"/>
          <p:nvPr/>
        </p:nvSpPr>
        <p:spPr>
          <a:xfrm>
            <a:off x="59436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u="sng" dirty="0">
                <a:solidFill>
                  <a:srgbClr val="7FA9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Ingestion</a:t>
            </a:r>
            <a:endParaRPr lang="en-US" sz="1900" dirty="0"/>
          </a:p>
        </p:txBody>
      </p:sp>
      <p:sp>
        <p:nvSpPr>
          <p:cNvPr id="272" name="Shape 5">
            <a:extLst>
              <a:ext uri="{FF2B5EF4-FFF2-40B4-BE49-F238E27FC236}">
                <a16:creationId xmlns:a16="http://schemas.microsoft.com/office/drawing/2014/main" id="{CF1623D3-3C94-2C69-694F-E618DDBEC05C}"/>
              </a:ext>
            </a:extLst>
          </p:cNvPr>
          <p:cNvSpPr/>
          <p:nvPr/>
        </p:nvSpPr>
        <p:spPr>
          <a:xfrm>
            <a:off x="685800" y="2468880"/>
            <a:ext cx="3108960" cy="797814"/>
          </a:xfrm>
          <a:prstGeom prst="roundRect">
            <a:avLst>
              <a:gd name="adj" fmla="val 9169"/>
            </a:avLst>
          </a:prstGeom>
          <a:solidFill>
            <a:srgbClr val="0B2646"/>
          </a:solidFill>
          <a:ln w="12700">
            <a:solidFill>
              <a:srgbClr val="5C7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Text 6">
            <a:extLst>
              <a:ext uri="{FF2B5EF4-FFF2-40B4-BE49-F238E27FC236}">
                <a16:creationId xmlns:a16="http://schemas.microsoft.com/office/drawing/2014/main" id="{956A09CD-8317-BD8D-1907-DCDE7FD744D4}"/>
              </a:ext>
            </a:extLst>
          </p:cNvPr>
          <p:cNvSpPr txBox="1"/>
          <p:nvPr/>
        </p:nvSpPr>
        <p:spPr>
          <a:xfrm>
            <a:off x="822960" y="2542032"/>
            <a:ext cx="283464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Raccolta Annual Report</a:t>
            </a:r>
            <a:endParaRPr lang="en-US" sz="1600" dirty="0"/>
          </a:p>
        </p:txBody>
      </p:sp>
      <p:sp>
        <p:nvSpPr>
          <p:cNvPr id="274" name="Shape 7">
            <a:extLst>
              <a:ext uri="{FF2B5EF4-FFF2-40B4-BE49-F238E27FC236}">
                <a16:creationId xmlns:a16="http://schemas.microsoft.com/office/drawing/2014/main" id="{968AF11A-E7AB-DBE3-E270-1D7958C50CD7}"/>
              </a:ext>
            </a:extLst>
          </p:cNvPr>
          <p:cNvSpPr/>
          <p:nvPr/>
        </p:nvSpPr>
        <p:spPr>
          <a:xfrm>
            <a:off x="2240280" y="3266694"/>
            <a:ext cx="0" cy="201168"/>
          </a:xfrm>
          <a:prstGeom prst="line">
            <a:avLst/>
          </a:prstGeom>
          <a:noFill/>
          <a:ln w="15875">
            <a:solidFill>
              <a:srgbClr val="5C7F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8">
            <a:extLst>
              <a:ext uri="{FF2B5EF4-FFF2-40B4-BE49-F238E27FC236}">
                <a16:creationId xmlns:a16="http://schemas.microsoft.com/office/drawing/2014/main" id="{3F7546F3-A61F-4487-4522-B54E2E2B5396}"/>
              </a:ext>
            </a:extLst>
          </p:cNvPr>
          <p:cNvSpPr/>
          <p:nvPr/>
        </p:nvSpPr>
        <p:spPr>
          <a:xfrm>
            <a:off x="685800" y="3467862"/>
            <a:ext cx="3108960" cy="797814"/>
          </a:xfrm>
          <a:prstGeom prst="roundRect">
            <a:avLst>
              <a:gd name="adj" fmla="val 9169"/>
            </a:avLst>
          </a:prstGeom>
          <a:solidFill>
            <a:srgbClr val="0B2646"/>
          </a:solidFill>
          <a:ln w="12700">
            <a:solidFill>
              <a:srgbClr val="5C7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Text 9">
            <a:extLst>
              <a:ext uri="{FF2B5EF4-FFF2-40B4-BE49-F238E27FC236}">
                <a16:creationId xmlns:a16="http://schemas.microsoft.com/office/drawing/2014/main" id="{E43A44E0-9E28-4EA9-F3EE-5C48D1D6AE84}"/>
              </a:ext>
            </a:extLst>
          </p:cNvPr>
          <p:cNvSpPr txBox="1"/>
          <p:nvPr/>
        </p:nvSpPr>
        <p:spPr>
          <a:xfrm>
            <a:off x="789094" y="3541014"/>
            <a:ext cx="321310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 err="1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Estrazione</a:t>
            </a:r>
            <a:r>
              <a:rPr lang="en-US" sz="1600" b="1" dirty="0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Chunk </a:t>
            </a:r>
            <a:r>
              <a:rPr lang="en-US" sz="1600" b="1" dirty="0" err="1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Semantici</a:t>
            </a:r>
            <a:r>
              <a:rPr lang="en-US" sz="1600" b="1" dirty="0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1400" b="1" dirty="0">
              <a:solidFill>
                <a:srgbClr val="D9E6F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(recursive splitter con overlap)</a:t>
            </a:r>
            <a:endParaRPr lang="en-US" sz="1500" dirty="0"/>
          </a:p>
        </p:txBody>
      </p:sp>
      <p:sp>
        <p:nvSpPr>
          <p:cNvPr id="277" name="Shape 10">
            <a:extLst>
              <a:ext uri="{FF2B5EF4-FFF2-40B4-BE49-F238E27FC236}">
                <a16:creationId xmlns:a16="http://schemas.microsoft.com/office/drawing/2014/main" id="{FDE53221-959C-3210-790E-3A43C1F1939C}"/>
              </a:ext>
            </a:extLst>
          </p:cNvPr>
          <p:cNvSpPr/>
          <p:nvPr/>
        </p:nvSpPr>
        <p:spPr>
          <a:xfrm>
            <a:off x="2240280" y="4265676"/>
            <a:ext cx="0" cy="201168"/>
          </a:xfrm>
          <a:prstGeom prst="line">
            <a:avLst/>
          </a:prstGeom>
          <a:noFill/>
          <a:ln w="15875">
            <a:solidFill>
              <a:srgbClr val="5C7F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11">
            <a:extLst>
              <a:ext uri="{FF2B5EF4-FFF2-40B4-BE49-F238E27FC236}">
                <a16:creationId xmlns:a16="http://schemas.microsoft.com/office/drawing/2014/main" id="{5CAC35AF-8C87-F7A4-CF0D-C10A8C6D45D9}"/>
              </a:ext>
            </a:extLst>
          </p:cNvPr>
          <p:cNvSpPr/>
          <p:nvPr/>
        </p:nvSpPr>
        <p:spPr>
          <a:xfrm>
            <a:off x="685800" y="4466844"/>
            <a:ext cx="3108960" cy="797814"/>
          </a:xfrm>
          <a:prstGeom prst="roundRect">
            <a:avLst>
              <a:gd name="adj" fmla="val 9169"/>
            </a:avLst>
          </a:prstGeom>
          <a:solidFill>
            <a:srgbClr val="0B2646"/>
          </a:solidFill>
          <a:ln w="12700">
            <a:solidFill>
              <a:srgbClr val="5C7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Text 12">
            <a:extLst>
              <a:ext uri="{FF2B5EF4-FFF2-40B4-BE49-F238E27FC236}">
                <a16:creationId xmlns:a16="http://schemas.microsoft.com/office/drawing/2014/main" id="{6218F837-E89E-BD78-A9A2-6408C99BE9A6}"/>
              </a:ext>
            </a:extLst>
          </p:cNvPr>
          <p:cNvSpPr txBox="1"/>
          <p:nvPr/>
        </p:nvSpPr>
        <p:spPr>
          <a:xfrm>
            <a:off x="822960" y="4539996"/>
            <a:ext cx="283464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 err="1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Arricchimento</a:t>
            </a:r>
            <a:r>
              <a:rPr lang="en-US" sz="1600" b="1" dirty="0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Metadata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(Company, Anno)</a:t>
            </a:r>
            <a:endParaRPr lang="en-US" sz="1600" b="1" dirty="0">
              <a:solidFill>
                <a:srgbClr val="D9E6F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280" name="Shape 13">
            <a:extLst>
              <a:ext uri="{FF2B5EF4-FFF2-40B4-BE49-F238E27FC236}">
                <a16:creationId xmlns:a16="http://schemas.microsoft.com/office/drawing/2014/main" id="{F7FA6B95-1E2B-897D-DA86-B3FE2197C153}"/>
              </a:ext>
            </a:extLst>
          </p:cNvPr>
          <p:cNvSpPr/>
          <p:nvPr/>
        </p:nvSpPr>
        <p:spPr>
          <a:xfrm>
            <a:off x="2240280" y="5264658"/>
            <a:ext cx="0" cy="201168"/>
          </a:xfrm>
          <a:prstGeom prst="line">
            <a:avLst/>
          </a:prstGeom>
          <a:noFill/>
          <a:ln w="15875">
            <a:solidFill>
              <a:srgbClr val="5C7F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14">
            <a:extLst>
              <a:ext uri="{FF2B5EF4-FFF2-40B4-BE49-F238E27FC236}">
                <a16:creationId xmlns:a16="http://schemas.microsoft.com/office/drawing/2014/main" id="{20BF0C98-8D65-5849-D23A-D5CB6C05B3DD}"/>
              </a:ext>
            </a:extLst>
          </p:cNvPr>
          <p:cNvSpPr/>
          <p:nvPr/>
        </p:nvSpPr>
        <p:spPr>
          <a:xfrm>
            <a:off x="685800" y="5465826"/>
            <a:ext cx="3108960" cy="797814"/>
          </a:xfrm>
          <a:prstGeom prst="roundRect">
            <a:avLst>
              <a:gd name="adj" fmla="val 9169"/>
            </a:avLst>
          </a:prstGeom>
          <a:solidFill>
            <a:srgbClr val="0B2646"/>
          </a:solidFill>
          <a:ln w="12700">
            <a:solidFill>
              <a:srgbClr val="5C7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Text 15">
            <a:extLst>
              <a:ext uri="{FF2B5EF4-FFF2-40B4-BE49-F238E27FC236}">
                <a16:creationId xmlns:a16="http://schemas.microsoft.com/office/drawing/2014/main" id="{DBA6ABEF-465C-4A21-A0DD-8474FDB62F8B}"/>
              </a:ext>
            </a:extLst>
          </p:cNvPr>
          <p:cNvSpPr txBox="1"/>
          <p:nvPr/>
        </p:nvSpPr>
        <p:spPr>
          <a:xfrm>
            <a:off x="822960" y="5538978"/>
            <a:ext cx="283464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Embedding ➔ Vector DB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(all-MiniLm-L6-v2 -&gt; </a:t>
            </a:r>
            <a:r>
              <a:rPr lang="en-US" sz="1400" dirty="0" err="1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r>
              <a:rPr lang="en-US" sz="14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HNSW)</a:t>
            </a:r>
            <a:endParaRPr lang="en-US" sz="1400" dirty="0"/>
          </a:p>
        </p:txBody>
      </p:sp>
      <p:sp>
        <p:nvSpPr>
          <p:cNvPr id="283" name="Shape 16">
            <a:extLst>
              <a:ext uri="{FF2B5EF4-FFF2-40B4-BE49-F238E27FC236}">
                <a16:creationId xmlns:a16="http://schemas.microsoft.com/office/drawing/2014/main" id="{0690AB1B-B6B1-B83A-FAE6-8C7A19F0A8DF}"/>
              </a:ext>
            </a:extLst>
          </p:cNvPr>
          <p:cNvSpPr/>
          <p:nvPr/>
        </p:nvSpPr>
        <p:spPr>
          <a:xfrm>
            <a:off x="4251960" y="1417320"/>
            <a:ext cx="3566160" cy="5120640"/>
          </a:xfrm>
          <a:prstGeom prst="roundRect">
            <a:avLst>
              <a:gd name="adj" fmla="val 8974"/>
            </a:avLst>
          </a:prstGeom>
          <a:solidFill>
            <a:srgbClr val="0B2646"/>
          </a:solidFill>
          <a:ln w="15875">
            <a:solidFill>
              <a:srgbClr val="5C7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17">
            <a:extLst>
              <a:ext uri="{FF2B5EF4-FFF2-40B4-BE49-F238E27FC236}">
                <a16:creationId xmlns:a16="http://schemas.microsoft.com/office/drawing/2014/main" id="{C2497E5D-331F-9152-4CA7-684C20986AD4}"/>
              </a:ext>
            </a:extLst>
          </p:cNvPr>
          <p:cNvSpPr/>
          <p:nvPr/>
        </p:nvSpPr>
        <p:spPr>
          <a:xfrm>
            <a:off x="5779008" y="1161288"/>
            <a:ext cx="512064" cy="512064"/>
          </a:xfrm>
          <a:prstGeom prst="ellipse">
            <a:avLst/>
          </a:prstGeom>
          <a:solidFill>
            <a:srgbClr val="0B2646"/>
          </a:solidFill>
          <a:ln w="19050">
            <a:solidFill>
              <a:srgbClr val="D9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Text 18">
            <a:extLst>
              <a:ext uri="{FF2B5EF4-FFF2-40B4-BE49-F238E27FC236}">
                <a16:creationId xmlns:a16="http://schemas.microsoft.com/office/drawing/2014/main" id="{FB42C04C-1D7A-9DA8-DE96-81A9F184A01F}"/>
              </a:ext>
            </a:extLst>
          </p:cNvPr>
          <p:cNvSpPr txBox="1"/>
          <p:nvPr/>
        </p:nvSpPr>
        <p:spPr>
          <a:xfrm>
            <a:off x="5779008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b="1" dirty="0"/>
          </a:p>
        </p:txBody>
      </p:sp>
      <p:sp>
        <p:nvSpPr>
          <p:cNvPr id="286" name="Text 19">
            <a:extLst>
              <a:ext uri="{FF2B5EF4-FFF2-40B4-BE49-F238E27FC236}">
                <a16:creationId xmlns:a16="http://schemas.microsoft.com/office/drawing/2014/main" id="{23032566-065F-C160-E8C7-1E90F7C4F425}"/>
              </a:ext>
            </a:extLst>
          </p:cNvPr>
          <p:cNvSpPr txBox="1"/>
          <p:nvPr/>
        </p:nvSpPr>
        <p:spPr>
          <a:xfrm>
            <a:off x="438912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u="sng" dirty="0">
                <a:solidFill>
                  <a:srgbClr val="7FA9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Retrieval</a:t>
            </a:r>
            <a:endParaRPr lang="en-US" sz="1900" dirty="0"/>
          </a:p>
        </p:txBody>
      </p:sp>
      <p:sp>
        <p:nvSpPr>
          <p:cNvPr id="287" name="Shape 20">
            <a:extLst>
              <a:ext uri="{FF2B5EF4-FFF2-40B4-BE49-F238E27FC236}">
                <a16:creationId xmlns:a16="http://schemas.microsoft.com/office/drawing/2014/main" id="{9D3E365B-5DE7-5E03-A4B8-EAD2274B8A74}"/>
              </a:ext>
            </a:extLst>
          </p:cNvPr>
          <p:cNvSpPr/>
          <p:nvPr/>
        </p:nvSpPr>
        <p:spPr>
          <a:xfrm>
            <a:off x="4480560" y="2468880"/>
            <a:ext cx="3108960" cy="1130808"/>
          </a:xfrm>
          <a:prstGeom prst="roundRect">
            <a:avLst>
              <a:gd name="adj" fmla="val 6469"/>
            </a:avLst>
          </a:prstGeom>
          <a:solidFill>
            <a:srgbClr val="0B2646"/>
          </a:solidFill>
          <a:ln w="22225">
            <a:solidFill>
              <a:srgbClr val="E896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Text 21">
            <a:extLst>
              <a:ext uri="{FF2B5EF4-FFF2-40B4-BE49-F238E27FC236}">
                <a16:creationId xmlns:a16="http://schemas.microsoft.com/office/drawing/2014/main" id="{2CDE55F0-3C49-AFD5-B0A8-4A9F3416F4D8}"/>
              </a:ext>
            </a:extLst>
          </p:cNvPr>
          <p:cNvSpPr txBox="1"/>
          <p:nvPr/>
        </p:nvSpPr>
        <p:spPr>
          <a:xfrm>
            <a:off x="4617720" y="2542032"/>
            <a:ext cx="283464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Query Interpretation: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agisce da parser </a:t>
            </a:r>
            <a:r>
              <a:rPr lang="en-US" sz="1400" dirty="0" err="1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intelligente</a:t>
            </a:r>
            <a:endParaRPr lang="en-US" sz="1400" dirty="0">
              <a:solidFill>
                <a:srgbClr val="D9E6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 err="1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estrae</a:t>
            </a:r>
            <a:r>
              <a:rPr lang="en-US" sz="16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società</a:t>
            </a:r>
            <a:r>
              <a:rPr lang="en-US" sz="16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anni ed </a:t>
            </a:r>
            <a:r>
              <a:rPr lang="en-US" sz="1600" dirty="0" err="1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</a:t>
            </a:r>
            <a:r>
              <a:rPr lang="en-US" sz="16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289" name="Shape 22">
            <a:extLst>
              <a:ext uri="{FF2B5EF4-FFF2-40B4-BE49-F238E27FC236}">
                <a16:creationId xmlns:a16="http://schemas.microsoft.com/office/drawing/2014/main" id="{24231FBC-2228-0C14-BFFC-A616788AB486}"/>
              </a:ext>
            </a:extLst>
          </p:cNvPr>
          <p:cNvSpPr/>
          <p:nvPr/>
        </p:nvSpPr>
        <p:spPr>
          <a:xfrm>
            <a:off x="6035040" y="3599688"/>
            <a:ext cx="0" cy="201168"/>
          </a:xfrm>
          <a:prstGeom prst="line">
            <a:avLst/>
          </a:prstGeom>
          <a:noFill/>
          <a:ln w="15875">
            <a:solidFill>
              <a:srgbClr val="5C7F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3">
            <a:extLst>
              <a:ext uri="{FF2B5EF4-FFF2-40B4-BE49-F238E27FC236}">
                <a16:creationId xmlns:a16="http://schemas.microsoft.com/office/drawing/2014/main" id="{990A4A1A-A71E-6E79-7B68-F2775558914B}"/>
              </a:ext>
            </a:extLst>
          </p:cNvPr>
          <p:cNvSpPr/>
          <p:nvPr/>
        </p:nvSpPr>
        <p:spPr>
          <a:xfrm>
            <a:off x="4480560" y="3800856"/>
            <a:ext cx="3108960" cy="1130808"/>
          </a:xfrm>
          <a:prstGeom prst="roundRect">
            <a:avLst>
              <a:gd name="adj" fmla="val 6469"/>
            </a:avLst>
          </a:prstGeom>
          <a:solidFill>
            <a:srgbClr val="0B2646"/>
          </a:solidFill>
          <a:ln w="12700">
            <a:solidFill>
              <a:srgbClr val="5C7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Text 24">
            <a:extLst>
              <a:ext uri="{FF2B5EF4-FFF2-40B4-BE49-F238E27FC236}">
                <a16:creationId xmlns:a16="http://schemas.microsoft.com/office/drawing/2014/main" id="{A2BF5EA6-F7E8-920D-67B5-536723E327E6}"/>
              </a:ext>
            </a:extLst>
          </p:cNvPr>
          <p:cNvSpPr txBox="1"/>
          <p:nvPr/>
        </p:nvSpPr>
        <p:spPr>
          <a:xfrm>
            <a:off x="4617720" y="3874008"/>
            <a:ext cx="283464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Retrieval </a:t>
            </a:r>
            <a:r>
              <a:rPr lang="en-US" sz="1600" b="1" dirty="0" err="1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Ibrido</a:t>
            </a:r>
            <a:r>
              <a:rPr lang="en-US" sz="1600" b="1" dirty="0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r>
              <a:rPr lang="en-US" sz="1600" b="1" dirty="0" err="1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adattivo</a:t>
            </a:r>
            <a:r>
              <a:rPr lang="en-US" sz="1600" b="1" dirty="0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 err="1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</a:t>
            </a:r>
            <a:r>
              <a:rPr lang="en-US" sz="140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Metadata </a:t>
            </a:r>
            <a:r>
              <a:rPr lang="en-US" sz="14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400" dirty="0" err="1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Semantico</a:t>
            </a:r>
            <a:r>
              <a:rPr lang="en-US" sz="14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Denso HNSW + Window Expansion)</a:t>
            </a:r>
            <a:endParaRPr lang="en-US" sz="1600" dirty="0"/>
          </a:p>
        </p:txBody>
      </p:sp>
      <p:sp>
        <p:nvSpPr>
          <p:cNvPr id="292" name="Shape 25">
            <a:extLst>
              <a:ext uri="{FF2B5EF4-FFF2-40B4-BE49-F238E27FC236}">
                <a16:creationId xmlns:a16="http://schemas.microsoft.com/office/drawing/2014/main" id="{9C92E11A-B237-F8B2-DEC2-57239D30F109}"/>
              </a:ext>
            </a:extLst>
          </p:cNvPr>
          <p:cNvSpPr/>
          <p:nvPr/>
        </p:nvSpPr>
        <p:spPr>
          <a:xfrm>
            <a:off x="6035040" y="4931664"/>
            <a:ext cx="0" cy="201168"/>
          </a:xfrm>
          <a:prstGeom prst="line">
            <a:avLst/>
          </a:prstGeom>
          <a:noFill/>
          <a:ln w="15875">
            <a:solidFill>
              <a:srgbClr val="5C7F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6">
            <a:extLst>
              <a:ext uri="{FF2B5EF4-FFF2-40B4-BE49-F238E27FC236}">
                <a16:creationId xmlns:a16="http://schemas.microsoft.com/office/drawing/2014/main" id="{03615FCC-E556-A1AE-1444-C1EBEDC04005}"/>
              </a:ext>
            </a:extLst>
          </p:cNvPr>
          <p:cNvSpPr/>
          <p:nvPr/>
        </p:nvSpPr>
        <p:spPr>
          <a:xfrm>
            <a:off x="4480560" y="5132832"/>
            <a:ext cx="3108960" cy="1130808"/>
          </a:xfrm>
          <a:prstGeom prst="roundRect">
            <a:avLst>
              <a:gd name="adj" fmla="val 6469"/>
            </a:avLst>
          </a:prstGeom>
          <a:solidFill>
            <a:srgbClr val="0B2646"/>
          </a:solidFill>
          <a:ln w="12700">
            <a:solidFill>
              <a:srgbClr val="5C7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Text 27">
            <a:extLst>
              <a:ext uri="{FF2B5EF4-FFF2-40B4-BE49-F238E27FC236}">
                <a16:creationId xmlns:a16="http://schemas.microsoft.com/office/drawing/2014/main" id="{5AF663C6-8030-8840-74F6-1C0EDC7755ED}"/>
              </a:ext>
            </a:extLst>
          </p:cNvPr>
          <p:cNvSpPr txBox="1"/>
          <p:nvPr/>
        </p:nvSpPr>
        <p:spPr>
          <a:xfrm>
            <a:off x="4617720" y="5205984"/>
            <a:ext cx="283464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 Building: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(Reranking per ridurre il rumore)</a:t>
            </a:r>
            <a:endParaRPr lang="en-US" sz="1600" dirty="0"/>
          </a:p>
        </p:txBody>
      </p:sp>
      <p:sp>
        <p:nvSpPr>
          <p:cNvPr id="295" name="Shape 28">
            <a:extLst>
              <a:ext uri="{FF2B5EF4-FFF2-40B4-BE49-F238E27FC236}">
                <a16:creationId xmlns:a16="http://schemas.microsoft.com/office/drawing/2014/main" id="{A7CFE2C5-6B1D-83F0-679D-18A5F66196E9}"/>
              </a:ext>
            </a:extLst>
          </p:cNvPr>
          <p:cNvSpPr/>
          <p:nvPr/>
        </p:nvSpPr>
        <p:spPr>
          <a:xfrm>
            <a:off x="8046720" y="1417320"/>
            <a:ext cx="3566160" cy="5120640"/>
          </a:xfrm>
          <a:prstGeom prst="roundRect">
            <a:avLst>
              <a:gd name="adj" fmla="val 8974"/>
            </a:avLst>
          </a:prstGeom>
          <a:solidFill>
            <a:srgbClr val="0B2646"/>
          </a:solidFill>
          <a:ln w="15875">
            <a:solidFill>
              <a:srgbClr val="5C7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">
            <a:extLst>
              <a:ext uri="{FF2B5EF4-FFF2-40B4-BE49-F238E27FC236}">
                <a16:creationId xmlns:a16="http://schemas.microsoft.com/office/drawing/2014/main" id="{EBC61D44-1A16-C1BE-524E-0DE71089834A}"/>
              </a:ext>
            </a:extLst>
          </p:cNvPr>
          <p:cNvSpPr/>
          <p:nvPr/>
        </p:nvSpPr>
        <p:spPr>
          <a:xfrm>
            <a:off x="9573768" y="1161288"/>
            <a:ext cx="512064" cy="512064"/>
          </a:xfrm>
          <a:prstGeom prst="ellipse">
            <a:avLst/>
          </a:prstGeom>
          <a:solidFill>
            <a:srgbClr val="0B2646"/>
          </a:solidFill>
          <a:ln w="19050">
            <a:solidFill>
              <a:srgbClr val="D9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Text 30">
            <a:extLst>
              <a:ext uri="{FF2B5EF4-FFF2-40B4-BE49-F238E27FC236}">
                <a16:creationId xmlns:a16="http://schemas.microsoft.com/office/drawing/2014/main" id="{209311D6-FEC1-230D-512C-1545D9EA6E93}"/>
              </a:ext>
            </a:extLst>
          </p:cNvPr>
          <p:cNvSpPr txBox="1"/>
          <p:nvPr/>
        </p:nvSpPr>
        <p:spPr>
          <a:xfrm>
            <a:off x="9573768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b="1" dirty="0"/>
          </a:p>
        </p:txBody>
      </p:sp>
      <p:sp>
        <p:nvSpPr>
          <p:cNvPr id="298" name="Text 31">
            <a:extLst>
              <a:ext uri="{FF2B5EF4-FFF2-40B4-BE49-F238E27FC236}">
                <a16:creationId xmlns:a16="http://schemas.microsoft.com/office/drawing/2014/main" id="{D86B7456-8FD3-2543-F8C7-AA8DF792C726}"/>
              </a:ext>
            </a:extLst>
          </p:cNvPr>
          <p:cNvSpPr txBox="1"/>
          <p:nvPr/>
        </p:nvSpPr>
        <p:spPr>
          <a:xfrm>
            <a:off x="818388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u="sng" dirty="0">
                <a:solidFill>
                  <a:srgbClr val="7FA9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Guarded Generation</a:t>
            </a:r>
            <a:endParaRPr lang="en-US" sz="1900" dirty="0"/>
          </a:p>
        </p:txBody>
      </p:sp>
      <p:sp>
        <p:nvSpPr>
          <p:cNvPr id="299" name="Shape 32">
            <a:extLst>
              <a:ext uri="{FF2B5EF4-FFF2-40B4-BE49-F238E27FC236}">
                <a16:creationId xmlns:a16="http://schemas.microsoft.com/office/drawing/2014/main" id="{2B41BEB4-087A-4850-72FA-663A7D4DB90F}"/>
              </a:ext>
            </a:extLst>
          </p:cNvPr>
          <p:cNvSpPr/>
          <p:nvPr/>
        </p:nvSpPr>
        <p:spPr>
          <a:xfrm>
            <a:off x="8275320" y="2468880"/>
            <a:ext cx="3108960" cy="1130808"/>
          </a:xfrm>
          <a:prstGeom prst="roundRect">
            <a:avLst>
              <a:gd name="adj" fmla="val 6469"/>
            </a:avLst>
          </a:prstGeom>
          <a:solidFill>
            <a:srgbClr val="0B2646"/>
          </a:solidFill>
          <a:ln w="12700">
            <a:solidFill>
              <a:srgbClr val="5C7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Text 33">
            <a:extLst>
              <a:ext uri="{FF2B5EF4-FFF2-40B4-BE49-F238E27FC236}">
                <a16:creationId xmlns:a16="http://schemas.microsoft.com/office/drawing/2014/main" id="{8BC23CB7-3EF2-841D-B3FE-8A9C911647A6}"/>
              </a:ext>
            </a:extLst>
          </p:cNvPr>
          <p:cNvSpPr txBox="1"/>
          <p:nvPr/>
        </p:nvSpPr>
        <p:spPr>
          <a:xfrm>
            <a:off x="8412480" y="2542032"/>
            <a:ext cx="283464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Generazione:
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(Modello principale per la risposta)</a:t>
            </a:r>
            <a:endParaRPr lang="en-US" sz="1600" dirty="0"/>
          </a:p>
        </p:txBody>
      </p:sp>
      <p:sp>
        <p:nvSpPr>
          <p:cNvPr id="301" name="Shape 34">
            <a:extLst>
              <a:ext uri="{FF2B5EF4-FFF2-40B4-BE49-F238E27FC236}">
                <a16:creationId xmlns:a16="http://schemas.microsoft.com/office/drawing/2014/main" id="{83BAB8BD-C19F-A26E-BEC7-6F374C54ABC7}"/>
              </a:ext>
            </a:extLst>
          </p:cNvPr>
          <p:cNvSpPr/>
          <p:nvPr/>
        </p:nvSpPr>
        <p:spPr>
          <a:xfrm>
            <a:off x="9829800" y="3599688"/>
            <a:ext cx="0" cy="201168"/>
          </a:xfrm>
          <a:prstGeom prst="line">
            <a:avLst/>
          </a:prstGeom>
          <a:noFill/>
          <a:ln w="15875">
            <a:solidFill>
              <a:srgbClr val="5C7F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5">
            <a:extLst>
              <a:ext uri="{FF2B5EF4-FFF2-40B4-BE49-F238E27FC236}">
                <a16:creationId xmlns:a16="http://schemas.microsoft.com/office/drawing/2014/main" id="{6AE83B11-3154-755C-2472-7BD8F07C4821}"/>
              </a:ext>
            </a:extLst>
          </p:cNvPr>
          <p:cNvSpPr/>
          <p:nvPr/>
        </p:nvSpPr>
        <p:spPr>
          <a:xfrm>
            <a:off x="8275320" y="3800856"/>
            <a:ext cx="3108960" cy="1130808"/>
          </a:xfrm>
          <a:prstGeom prst="roundRect">
            <a:avLst>
              <a:gd name="adj" fmla="val 6469"/>
            </a:avLst>
          </a:prstGeom>
          <a:solidFill>
            <a:srgbClr val="0B2646"/>
          </a:solidFill>
          <a:ln w="22225">
            <a:solidFill>
              <a:srgbClr val="E896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Text 36">
            <a:extLst>
              <a:ext uri="{FF2B5EF4-FFF2-40B4-BE49-F238E27FC236}">
                <a16:creationId xmlns:a16="http://schemas.microsoft.com/office/drawing/2014/main" id="{6F6D9F4C-C408-D6E3-52CF-D89BA0864352}"/>
              </a:ext>
            </a:extLst>
          </p:cNvPr>
          <p:cNvSpPr txBox="1"/>
          <p:nvPr/>
        </p:nvSpPr>
        <p:spPr>
          <a:xfrm>
            <a:off x="8412480" y="3874008"/>
            <a:ext cx="283464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Self-Correction:
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Secondo passaggio LLM. Verifica dati, temporalità e assenza di allucinazioni</a:t>
            </a:r>
            <a:endParaRPr lang="en-US" sz="1600" dirty="0"/>
          </a:p>
        </p:txBody>
      </p:sp>
      <p:sp>
        <p:nvSpPr>
          <p:cNvPr id="304" name="Shape 37">
            <a:extLst>
              <a:ext uri="{FF2B5EF4-FFF2-40B4-BE49-F238E27FC236}">
                <a16:creationId xmlns:a16="http://schemas.microsoft.com/office/drawing/2014/main" id="{227694D6-0F6C-708F-631A-0D3731759444}"/>
              </a:ext>
            </a:extLst>
          </p:cNvPr>
          <p:cNvSpPr/>
          <p:nvPr/>
        </p:nvSpPr>
        <p:spPr>
          <a:xfrm>
            <a:off x="9829800" y="4931664"/>
            <a:ext cx="0" cy="201168"/>
          </a:xfrm>
          <a:prstGeom prst="line">
            <a:avLst/>
          </a:prstGeom>
          <a:noFill/>
          <a:ln w="15875">
            <a:solidFill>
              <a:srgbClr val="5C7F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8">
            <a:extLst>
              <a:ext uri="{FF2B5EF4-FFF2-40B4-BE49-F238E27FC236}">
                <a16:creationId xmlns:a16="http://schemas.microsoft.com/office/drawing/2014/main" id="{2843357D-342A-CE8F-CC63-D12C010000A0}"/>
              </a:ext>
            </a:extLst>
          </p:cNvPr>
          <p:cNvSpPr/>
          <p:nvPr/>
        </p:nvSpPr>
        <p:spPr>
          <a:xfrm>
            <a:off x="8275320" y="5132832"/>
            <a:ext cx="3108960" cy="1130808"/>
          </a:xfrm>
          <a:prstGeom prst="roundRect">
            <a:avLst>
              <a:gd name="adj" fmla="val 6469"/>
            </a:avLst>
          </a:prstGeom>
          <a:solidFill>
            <a:srgbClr val="0B2646"/>
          </a:solidFill>
          <a:ln w="12700">
            <a:solidFill>
              <a:srgbClr val="5C7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Text 39">
            <a:extLst>
              <a:ext uri="{FF2B5EF4-FFF2-40B4-BE49-F238E27FC236}">
                <a16:creationId xmlns:a16="http://schemas.microsoft.com/office/drawing/2014/main" id="{89A9D741-B74E-11FA-BB69-F2F5741B2376}"/>
              </a:ext>
            </a:extLst>
          </p:cNvPr>
          <p:cNvSpPr txBox="1"/>
          <p:nvPr/>
        </p:nvSpPr>
        <p:spPr>
          <a:xfrm>
            <a:off x="8412480" y="5205984"/>
            <a:ext cx="283464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9E6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 Garantito:
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(Grounded, Coerente e Affidabile)</a:t>
            </a:r>
            <a:endParaRPr lang="en-US" sz="1600" dirty="0"/>
          </a:p>
        </p:txBody>
      </p:sp>
      <p:sp>
        <p:nvSpPr>
          <p:cNvPr id="307" name="Shape 40">
            <a:extLst>
              <a:ext uri="{FF2B5EF4-FFF2-40B4-BE49-F238E27FC236}">
                <a16:creationId xmlns:a16="http://schemas.microsoft.com/office/drawing/2014/main" id="{77E09A7B-C451-4C43-1B51-37BF49F30E1C}"/>
              </a:ext>
            </a:extLst>
          </p:cNvPr>
          <p:cNvSpPr/>
          <p:nvPr/>
        </p:nvSpPr>
        <p:spPr>
          <a:xfrm>
            <a:off x="4023360" y="2697480"/>
            <a:ext cx="228600" cy="0"/>
          </a:xfrm>
          <a:prstGeom prst="line">
            <a:avLst/>
          </a:prstGeom>
          <a:noFill/>
          <a:ln w="19050">
            <a:solidFill>
              <a:srgbClr val="5C7FA6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41">
            <a:extLst>
              <a:ext uri="{FF2B5EF4-FFF2-40B4-BE49-F238E27FC236}">
                <a16:creationId xmlns:a16="http://schemas.microsoft.com/office/drawing/2014/main" id="{CE455A91-49E5-748C-C0A7-97C7434C4F79}"/>
              </a:ext>
            </a:extLst>
          </p:cNvPr>
          <p:cNvSpPr/>
          <p:nvPr/>
        </p:nvSpPr>
        <p:spPr>
          <a:xfrm>
            <a:off x="7818120" y="2697480"/>
            <a:ext cx="228600" cy="0"/>
          </a:xfrm>
          <a:prstGeom prst="line">
            <a:avLst/>
          </a:prstGeom>
          <a:noFill/>
          <a:ln w="19050">
            <a:solidFill>
              <a:srgbClr val="5C7FA6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cxnSp>
        <p:nvCxnSpPr>
          <p:cNvPr id="310" name="Elbow Connector 309">
            <a:extLst>
              <a:ext uri="{FF2B5EF4-FFF2-40B4-BE49-F238E27FC236}">
                <a16:creationId xmlns:a16="http://schemas.microsoft.com/office/drawing/2014/main" id="{00EF1ED1-E759-DDBA-65A1-954F3EC7B65E}"/>
              </a:ext>
            </a:extLst>
          </p:cNvPr>
          <p:cNvCxnSpPr>
            <a:stCxn id="302" idx="3"/>
            <a:endCxn id="299" idx="3"/>
          </p:cNvCxnSpPr>
          <p:nvPr/>
        </p:nvCxnSpPr>
        <p:spPr>
          <a:xfrm flipV="1">
            <a:off x="11384280" y="3034284"/>
            <a:ext cx="12700" cy="1331976"/>
          </a:xfrm>
          <a:prstGeom prst="bentConnector3">
            <a:avLst>
              <a:gd name="adj1" fmla="val 1230213"/>
            </a:avLst>
          </a:prstGeom>
          <a:solidFill>
            <a:srgbClr val="0B2646"/>
          </a:solidFill>
          <a:ln w="22225">
            <a:solidFill>
              <a:srgbClr val="E8964C"/>
            </a:solidFill>
            <a:prstDash val="solid"/>
          </a:ln>
        </p:spPr>
      </p:cxnSp>
      <p:sp>
        <p:nvSpPr>
          <p:cNvPr id="2" name="Text 16">
            <a:extLst>
              <a:ext uri="{FF2B5EF4-FFF2-40B4-BE49-F238E27FC236}">
                <a16:creationId xmlns:a16="http://schemas.microsoft.com/office/drawing/2014/main" id="{0C9AFEF4-BCC4-A0A7-B355-D3FD9E979363}"/>
              </a:ext>
            </a:extLst>
          </p:cNvPr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96977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 err="1">
                <a:solidFill>
                  <a:srgbClr val="DCE7F7"/>
                </a:solidFill>
                <a:latin typeface="Poppins" pitchFamily="2" charset="77"/>
                <a:cs typeface="Poppins" pitchFamily="2" charset="77"/>
              </a:rPr>
              <a:t>Problematiche</a:t>
            </a:r>
            <a:r>
              <a:rPr lang="en-US" sz="4000" b="1" dirty="0">
                <a:solidFill>
                  <a:srgbClr val="DCE7F7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4000" b="1" dirty="0" err="1">
                <a:solidFill>
                  <a:srgbClr val="DCE7F7"/>
                </a:solidFill>
                <a:latin typeface="Poppins" pitchFamily="2" charset="77"/>
                <a:cs typeface="Poppins" pitchFamily="2" charset="77"/>
              </a:rPr>
              <a:t>Affrontate</a:t>
            </a:r>
            <a:endParaRPr lang="en-US" sz="40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581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9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Affollamento da Allegati Legali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20240" y="19202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10-K supera spesso 200 pagine, di cui solo 4-5 contengono i rendiconti primari. L'embedding denso (all-MiniLM-L6-v2) assegna similarità più alta agli exhibit legali che ripetono la ragione sociale, penalizzando le tabelle contabili sintetiche.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35808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9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20240" y="31729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Diluizione Semantica da Over-Expansion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20240" y="353872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L'espansione fino a 16 sinonimi contabili concatenati diluisce il gradiente semantico su embedding a context window limitata (256 token), escludendo dai top-k proprio i rendiconti ufficiali.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654296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81888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9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20240" y="479145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Monopolizzazione del Contesto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20240" y="5157216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Nelle query comparative, l'azienda con il filing più voluminoso monopolizza il token budget del prompt: l'LLM allucina le metriche della seconda società o scambia i valori tra competitor.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Balanced Retrieval &amp; Ranking </a:t>
            </a:r>
            <a:r>
              <a:rPr lang="en-US" sz="3800" b="1" dirty="0" err="1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Gerarchico</a:t>
            </a:r>
            <a:endParaRPr lang="en-US" sz="38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4438996"/>
          </a:xfrm>
          <a:prstGeom prst="roundRect">
            <a:avLst>
              <a:gd name="adj" fmla="val 1684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Balanced Per-Company Allocation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Nelle query comparative, il token budget totale del contesto (16.000 caratteri) viene suddiviso equamente tra le società esaminate — es. 8.000 caratteri ciascuna per 2 aziende.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Ogni competitor ottiene un canale documentale dedicato e simmetrico, eliminando il rischio che una società eclissi l'altra nel prompt finale.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251959"/>
            <a:ext cx="4663440" cy="1414549"/>
          </a:xfrm>
          <a:prstGeom prst="roundRect">
            <a:avLst>
              <a:gd name="adj" fmla="val 4138"/>
            </a:avLst>
          </a:prstGeom>
          <a:solidFill>
            <a:srgbClr val="132B45"/>
          </a:solidFill>
          <a:ln w="12700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4370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Funzione _rank_chunk</a:t>
            </a:r>
            <a:endParaRPr lang="en-US" sz="13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4709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Scoring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euristico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applicato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ai chunk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recuperati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per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ciascuna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azienda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, per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privilegiare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prospetti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ufficiali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e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sopprimere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il boilerplate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legale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.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7920" y="14630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+35</a:t>
            </a:r>
            <a:endParaRPr lang="en-US" sz="1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69480" y="14630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Prospetti ufficiali (Consolidated Statement of Operations / Income)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35040" y="2368296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236829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+25</a:t>
            </a:r>
            <a:endParaRPr lang="en-US" sz="1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269480" y="236829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Voci di ricavo esplicite (Total revenue, Net sales)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35040" y="3273552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0" y="3273552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+10</a:t>
            </a:r>
            <a:endParaRPr lang="en-US" sz="1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69480" y="327355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Margini operativi (Gross profit, Operating/Net income)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4178808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17920" y="41788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+5</a:t>
            </a:r>
            <a:endParaRPr lang="en-US" sz="1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269480" y="417880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Formato valutario ($/€, scala 'in millions')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35040" y="5084064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E2740"/>
          </a:solidFill>
          <a:ln w="15875">
            <a:solidFill>
              <a:srgbClr val="6E88A8"/>
            </a:solidFill>
            <a:prstDash val="solid"/>
          </a:ln>
        </p:spPr>
        <p:txBody>
          <a:bodyPr/>
          <a:lstStyle/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17920" y="508406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-30</a:t>
            </a:r>
            <a:endParaRPr lang="en-US" sz="1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69480" y="508406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Boilerplate legale (Exhibit 10/12, Employment/Severance agreement)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6</a:t>
            </a:r>
            <a:endParaRPr lang="en-US" sz="900" dirty="0"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Il blocco generativo non affida mai l'output direttamente all'utente: un paradigma Guarded a due fasi valida ogni risposta prima del rilascio.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383124" cy="2611582"/>
          </a:xfrm>
          <a:prstGeom prst="roundRect">
            <a:avLst>
              <a:gd name="adj" fmla="val 2025"/>
            </a:avLst>
          </a:prstGeom>
          <a:solidFill>
            <a:srgbClr val="13304F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Fase 1 — Draft Generation</a:t>
            </a:r>
            <a:endParaRPr lang="en-US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6700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Analista (LLM generatore)</a:t>
            </a:r>
            <a:endParaRPr lang="en-US" sz="12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4093814" cy="946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1800"/>
              </a:spcAft>
              <a:buSzPct val="100000"/>
            </a:pP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Elaborazione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della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bozza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strutturata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: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paragrafi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societari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isolati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,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citazione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formale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dei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chunk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sorgente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e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generazione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della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tabella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comparativa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.</a:t>
            </a:r>
            <a:endParaRPr lang="en-US" sz="13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15592" y="2057400"/>
            <a:ext cx="4897287" cy="2664502"/>
          </a:xfrm>
          <a:prstGeom prst="roundRect">
            <a:avLst>
              <a:gd name="adj" fmla="val 2025"/>
            </a:avLst>
          </a:prstGeom>
          <a:solidFill>
            <a:srgbClr val="13304F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96994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Fase 2 — Self-Correction Audit</a:t>
            </a:r>
            <a:endParaRPr lang="en-US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926972" y="26700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Revisore</a:t>
            </a:r>
            <a:r>
              <a:rPr lang="en-US" sz="1200" i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LLM </a:t>
            </a:r>
            <a:r>
              <a:rPr lang="en-US" sz="1200" i="1" dirty="0" err="1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indipendente</a:t>
            </a:r>
            <a:endParaRPr lang="en-US" sz="12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40446" y="3094720"/>
            <a:ext cx="4738933" cy="159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Un secondo LLM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esegue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la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verifica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punto per punto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verificando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:</a:t>
            </a:r>
          </a:p>
          <a:p>
            <a:pPr marL="285750" indent="-285750">
              <a:spcAft>
                <a:spcPts val="1200"/>
              </a:spcAft>
              <a:buSzPct val="100000"/>
              <a:buFont typeface="Wingdings" pitchFamily="2" charset="2"/>
              <a:buChar char="q"/>
            </a:pP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Accuratezza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numerica e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monetaria</a:t>
            </a:r>
            <a:endParaRPr lang="en-US" sz="13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Wingdings" pitchFamily="2" charset="2"/>
              <a:buChar char="q"/>
            </a:pP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Coerenza temporale delle annualità</a:t>
            </a:r>
            <a:endParaRPr lang="en-US" sz="13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Wingdings" pitchFamily="2" charset="2"/>
              <a:buChar char="q"/>
            </a:pP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Coerenza di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attribuzione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aziendale</a:t>
            </a:r>
            <a:endParaRPr lang="en-US" sz="13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7</a:t>
            </a:r>
            <a:endParaRPr lang="en-US" sz="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BE7F2D92-70B3-4C22-759B-0D84CCBD618C}"/>
              </a:ext>
            </a:extLst>
          </p:cNvPr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Guarded Generation &amp; Self-Correction</a:t>
            </a:r>
            <a:endParaRPr lang="en-US" sz="38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9E628181-2C4D-635F-7719-A609744E7465}"/>
              </a:ext>
            </a:extLst>
          </p:cNvPr>
          <p:cNvSpPr/>
          <p:nvPr/>
        </p:nvSpPr>
        <p:spPr>
          <a:xfrm>
            <a:off x="3084443" y="5102675"/>
            <a:ext cx="5212080" cy="1448027"/>
          </a:xfrm>
          <a:prstGeom prst="roundRect">
            <a:avLst>
              <a:gd name="adj" fmla="val 2025"/>
            </a:avLst>
          </a:prstGeom>
          <a:solidFill>
            <a:srgbClr val="13304F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1AD373E6-2E86-7D74-250D-ED1640C8276E}"/>
              </a:ext>
            </a:extLst>
          </p:cNvPr>
          <p:cNvSpPr/>
          <p:nvPr/>
        </p:nvSpPr>
        <p:spPr>
          <a:xfrm>
            <a:off x="3358763" y="5331275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Output Payload</a:t>
            </a:r>
            <a:endParaRPr lang="en-US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F95DED05-DC5B-A7D0-061A-C46F0E0199B6}"/>
              </a:ext>
            </a:extLst>
          </p:cNvPr>
          <p:cNvSpPr/>
          <p:nvPr/>
        </p:nvSpPr>
        <p:spPr>
          <a:xfrm>
            <a:off x="3358763" y="5735260"/>
            <a:ext cx="4663440" cy="946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1800"/>
              </a:spcAft>
              <a:buSzPct val="100000"/>
            </a:pP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L’auditor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corregge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gli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errori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in tempo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reale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e genera un Faithfulness Score (0-100%)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allegato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alla </a:t>
            </a:r>
            <a:r>
              <a:rPr lang="en-US" sz="13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risposta</a:t>
            </a:r>
            <a:r>
              <a:rPr lang="en-US" sz="13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finale.</a:t>
            </a:r>
            <a:endParaRPr lang="en-US" sz="13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3AC8FEE3-E21B-756F-BFD3-8B641AE70BEC}"/>
              </a:ext>
            </a:extLst>
          </p:cNvPr>
          <p:cNvSpPr/>
          <p:nvPr/>
        </p:nvSpPr>
        <p:spPr>
          <a:xfrm>
            <a:off x="5040536" y="3423920"/>
            <a:ext cx="1624760" cy="23368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rved Left Arrow 22">
            <a:extLst>
              <a:ext uri="{FF2B5EF4-FFF2-40B4-BE49-F238E27FC236}">
                <a16:creationId xmlns:a16="http://schemas.microsoft.com/office/drawing/2014/main" id="{8417B960-9DA2-856F-39DD-82B62A911CFC}"/>
              </a:ext>
            </a:extLst>
          </p:cNvPr>
          <p:cNvSpPr/>
          <p:nvPr/>
        </p:nvSpPr>
        <p:spPr>
          <a:xfrm rot="7721166">
            <a:off x="1974708" y="4774302"/>
            <a:ext cx="550259" cy="1060057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Curved Left Arrow 23">
            <a:extLst>
              <a:ext uri="{FF2B5EF4-FFF2-40B4-BE49-F238E27FC236}">
                <a16:creationId xmlns:a16="http://schemas.microsoft.com/office/drawing/2014/main" id="{0EB10D5A-AA79-AB8F-1834-4755C797EC6C}"/>
              </a:ext>
            </a:extLst>
          </p:cNvPr>
          <p:cNvSpPr/>
          <p:nvPr/>
        </p:nvSpPr>
        <p:spPr>
          <a:xfrm>
            <a:off x="8528410" y="4861965"/>
            <a:ext cx="550259" cy="1060057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2D47CC59-E979-9852-0C80-408880E323FF}"/>
              </a:ext>
            </a:extLst>
          </p:cNvPr>
          <p:cNvSpPr/>
          <p:nvPr/>
        </p:nvSpPr>
        <p:spPr>
          <a:xfrm>
            <a:off x="8536206" y="6084851"/>
            <a:ext cx="1007844" cy="201649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A720D94-796F-5541-0E9A-21335DF4B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676" y="5429250"/>
            <a:ext cx="1152526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2D169-B427-8661-87E0-5547D340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3">
            <a:extLst>
              <a:ext uri="{FF2B5EF4-FFF2-40B4-BE49-F238E27FC236}">
                <a16:creationId xmlns:a16="http://schemas.microsoft.com/office/drawing/2014/main" id="{39F4E8E5-4BAC-4237-E2EA-95EE34A06905}"/>
              </a:ext>
            </a:extLst>
          </p:cNvPr>
          <p:cNvSpPr txBox="1"/>
          <p:nvPr/>
        </p:nvSpPr>
        <p:spPr>
          <a:xfrm>
            <a:off x="1957388" y="19859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A5B940B-1CF5-4F8A-F2F0-8EF41DD21C2D}"/>
              </a:ext>
            </a:extLst>
          </p:cNvPr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 err="1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Valutazione</a:t>
            </a:r>
            <a:r>
              <a:rPr lang="en-US" sz="3800" b="1" dirty="0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3800" b="1" dirty="0" err="1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Sperimentale</a:t>
            </a:r>
            <a:endParaRPr lang="en-US" sz="380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132734-A98F-C046-7C10-7F59D9CE70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0" t="21361" r="2784" b="23452"/>
          <a:stretch>
            <a:fillRect/>
          </a:stretch>
        </p:blipFill>
        <p:spPr>
          <a:xfrm>
            <a:off x="546867" y="1600072"/>
            <a:ext cx="11098267" cy="3657856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1833BD76-030C-BB30-F1E3-FA8D478848BD}"/>
              </a:ext>
            </a:extLst>
          </p:cNvPr>
          <p:cNvSpPr/>
          <p:nvPr/>
        </p:nvSpPr>
        <p:spPr>
          <a:xfrm>
            <a:off x="561519" y="5781973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Trade-Off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Prestazionale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: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l’incremento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di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latenza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(+1.58s)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rappresenta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il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costo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marginale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computazionale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richiesto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dall’Auditor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per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garantire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un’accuratezza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assoluta,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giustificabile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nella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nostra area di </a:t>
            </a:r>
            <a:r>
              <a:rPr lang="en-US" sz="1600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applicazione</a:t>
            </a: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.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Text 16">
            <a:extLst>
              <a:ext uri="{FF2B5EF4-FFF2-40B4-BE49-F238E27FC236}">
                <a16:creationId xmlns:a16="http://schemas.microsoft.com/office/drawing/2014/main" id="{7795A8ED-EAC9-06C4-8730-93091E7EF07B}"/>
              </a:ext>
            </a:extLst>
          </p:cNvPr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cs typeface="Calibri" pitchFamily="34" charset="-120"/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2754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417320"/>
            <a:ext cx="11256498" cy="4995204"/>
          </a:xfrm>
          <a:prstGeom prst="roundRect">
            <a:avLst>
              <a:gd name="adj" fmla="val 1649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Evoluzione</a:t>
            </a:r>
            <a:r>
              <a:rPr lang="en-US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b="1" dirty="0" err="1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Fatturato</a:t>
            </a:r>
            <a:r>
              <a:rPr lang="en-US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Spotify</a:t>
            </a:r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89060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“Come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si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è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evoluto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il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fatturato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di Spotify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tra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il 2022 e il 2023? Mi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calcoli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la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crescita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percentuale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?”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2504111"/>
            <a:ext cx="11027898" cy="94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en-US" sz="1400" b="1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Sintesi</a:t>
            </a:r>
            <a:r>
              <a:rPr lang="en-US" sz="1400" b="1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:</a:t>
            </a:r>
          </a:p>
          <a:p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Il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fatturato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Spotify ha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registrato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una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crescita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significativa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tra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il 2022 e il 2023.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Passando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da 11.727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euro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nel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2022 a 13.247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euro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nel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2023,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l'azienda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ha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ottenuto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un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incremento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assoluto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1.520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euro. La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crescita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percentuale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calcolata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su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questi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dati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è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del 12,96%.</a:t>
            </a:r>
          </a:p>
          <a:p>
            <a:pPr>
              <a:spcAft>
                <a:spcPts val="600"/>
              </a:spcAft>
              <a:buSzPct val="100000"/>
            </a:pPr>
            <a:endParaRPr lang="en-US" sz="1400" dirty="0">
              <a:solidFill>
                <a:srgbClr val="C7D4E8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9</a:t>
            </a:r>
            <a:endParaRPr lang="en-US" sz="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F948D8FC-6154-7D22-DBDC-985F1E3A29E0}"/>
              </a:ext>
            </a:extLst>
          </p:cNvPr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Caso di Studio Reale 1/2</a:t>
            </a:r>
            <a:endParaRPr lang="en-US" sz="38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85956F4-10C1-526C-E8AA-CB9F993311DD}"/>
              </a:ext>
            </a:extLst>
          </p:cNvPr>
          <p:cNvSpPr/>
          <p:nvPr/>
        </p:nvSpPr>
        <p:spPr>
          <a:xfrm>
            <a:off x="812409" y="3613306"/>
            <a:ext cx="10824269" cy="267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en-US" sz="1400" b="1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Analisi</a:t>
            </a:r>
            <a:r>
              <a:rPr lang="en-US" sz="1400" b="1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b="1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dei</a:t>
            </a:r>
            <a:r>
              <a:rPr lang="en-US" sz="1400" b="1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b="1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Ricavi</a:t>
            </a:r>
            <a:r>
              <a:rPr lang="en-US" sz="1400" b="1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:</a:t>
            </a:r>
          </a:p>
          <a:p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Secondo il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documento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NYSE_SPOT_2022.pdf (Anno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fiscale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2022), il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fatturato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consolidato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(Revenue) di Spotify per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l'anno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chiuso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al 31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dicembre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2022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ammontava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a 11.727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euro.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Questo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è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confermato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anche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nel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documento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NYSE_SPOT_2023.pdf (Anno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fiscale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2023),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che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riporta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lo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stesso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valore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11.727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euro per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l'anno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2022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nella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colonna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comparativa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.</a:t>
            </a:r>
          </a:p>
          <a:p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Per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l'anno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fiscale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2023, il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documento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NYSE_SPOT_2023.pdf indica un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fatturato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consolidato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13.247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euro.</a:t>
            </a:r>
          </a:p>
          <a:p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Per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calcolare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la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crescita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percentuale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del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fatturato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tra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il 2022 e il 2023,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applica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la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seguente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formula: (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Fatturato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2023 -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Fatturato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2022) /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Fatturato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2022 x 100</a:t>
            </a:r>
          </a:p>
          <a:p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(13.247 - 11.727) / 11.727 x 100 = 1.520 / 11.727 x 100 = 12,96%</a:t>
            </a:r>
          </a:p>
          <a:p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La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crescita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è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stata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trainata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principalmente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dal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segmento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Premium, il cui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fatturato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è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passato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da 10.251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euro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nel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2022 a 11.566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euro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nel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2023, e dal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segmento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Ad-Supported,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che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è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cresciuto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da 1.476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euro a 1.681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euro, come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dettagliato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nelle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note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segmentali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dei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rispettivi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bilanci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C1EC4-4598-330D-6164-51A15392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C879131-F4BB-4DD3-B83B-2C1ADA2A2115}"/>
              </a:ext>
            </a:extLst>
          </p:cNvPr>
          <p:cNvSpPr/>
          <p:nvPr/>
        </p:nvSpPr>
        <p:spPr>
          <a:xfrm>
            <a:off x="77724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Evoluzione</a:t>
            </a:r>
            <a:r>
              <a:rPr lang="en-US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b="1" dirty="0" err="1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Fatturato</a:t>
            </a:r>
            <a:r>
              <a:rPr lang="en-US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Spotify</a:t>
            </a:r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E5E7FB3-1453-7223-CDB2-06F35A9EF1AC}"/>
              </a:ext>
            </a:extLst>
          </p:cNvPr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10</a:t>
            </a:r>
            <a:endParaRPr lang="en-US" sz="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AF76707B-D731-2E2C-C8A4-4D106BB02734}"/>
              </a:ext>
            </a:extLst>
          </p:cNvPr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Caso di Studio Reale 1/2</a:t>
            </a:r>
            <a:endParaRPr lang="en-US" sz="380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BD1C95-A059-BCE2-4EC7-4C093D3388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141" b="24287"/>
          <a:stretch>
            <a:fillRect/>
          </a:stretch>
        </p:blipFill>
        <p:spPr>
          <a:xfrm>
            <a:off x="782682" y="2324304"/>
            <a:ext cx="10832848" cy="33235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81BEDB-56CB-6852-04E8-06BA7E74807E}"/>
              </a:ext>
            </a:extLst>
          </p:cNvPr>
          <p:cNvSpPr txBox="1"/>
          <p:nvPr/>
        </p:nvSpPr>
        <p:spPr>
          <a:xfrm>
            <a:off x="711926" y="2086391"/>
            <a:ext cx="6100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400" b="1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Tabella</a:t>
            </a:r>
            <a:r>
              <a:rPr lang="en-US" sz="1400" b="1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400" b="1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Comparativa</a:t>
            </a:r>
            <a:r>
              <a:rPr lang="en-US" sz="1400" b="1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801865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417320"/>
            <a:ext cx="11268222" cy="5018649"/>
          </a:xfrm>
          <a:prstGeom prst="roundRect">
            <a:avLst>
              <a:gd name="adj" fmla="val 1649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39" y="1654495"/>
            <a:ext cx="56781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E8934B"/>
                </a:solidFill>
                <a:latin typeface="Poppins" pitchFamily="2" charset="77"/>
                <a:cs typeface="Poppins" pitchFamily="2" charset="77"/>
              </a:rPr>
              <a:t>Redditività</a:t>
            </a:r>
            <a:r>
              <a:rPr lang="en-US" b="1" dirty="0">
                <a:solidFill>
                  <a:srgbClr val="E893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b="1" dirty="0" err="1">
                <a:solidFill>
                  <a:srgbClr val="E8934B"/>
                </a:solidFill>
                <a:latin typeface="Poppins" pitchFamily="2" charset="77"/>
                <a:cs typeface="Poppins" pitchFamily="2" charset="77"/>
              </a:rPr>
              <a:t>operativa</a:t>
            </a:r>
            <a:r>
              <a:rPr lang="en-US" b="1" dirty="0">
                <a:solidFill>
                  <a:srgbClr val="E8934B"/>
                </a:solidFill>
                <a:latin typeface="Poppins" pitchFamily="2" charset="77"/>
                <a:cs typeface="Poppins" pitchFamily="2" charset="77"/>
              </a:rPr>
              <a:t>: Meta vs Microsoft (2023)</a:t>
            </a:r>
          </a:p>
        </p:txBody>
      </p:sp>
      <p:sp>
        <p:nvSpPr>
          <p:cNvPr id="5" name="Text 3"/>
          <p:cNvSpPr/>
          <p:nvPr/>
        </p:nvSpPr>
        <p:spPr>
          <a:xfrm>
            <a:off x="777239" y="2234574"/>
            <a:ext cx="107960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“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Confronta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i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ricavi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 e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l'utile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operativo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 di Meta e Microsoft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nel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 2023: chi ha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registrato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 il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margine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operativo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percentuale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più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i="1" dirty="0" err="1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elevato</a:t>
            </a:r>
            <a:r>
              <a:rPr lang="en-US" sz="1400" i="1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?“</a:t>
            </a:r>
          </a:p>
        </p:txBody>
      </p:sp>
      <p:sp>
        <p:nvSpPr>
          <p:cNvPr id="6" name="Text 4"/>
          <p:cNvSpPr/>
          <p:nvPr/>
        </p:nvSpPr>
        <p:spPr>
          <a:xfrm>
            <a:off x="777240" y="3071819"/>
            <a:ext cx="10782414" cy="13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en-US" sz="1400" b="1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Sintesi</a:t>
            </a:r>
            <a:r>
              <a:rPr lang="en-US" sz="1400" b="1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: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Nel fiscal year 2023, Microsoft ha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registrato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un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margine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operativo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percentuale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significativamente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più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elevato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rispetto a Meta.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Sebbene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Meta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abbia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generato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un utile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operativo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in termini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assoluti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inferiore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a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quello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Microsoft, la base di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ricavi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Microsoft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è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stata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molto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più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ampia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risultando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in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una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redditività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operativa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superiore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.</a:t>
            </a:r>
          </a:p>
          <a:p>
            <a:pPr>
              <a:spcAft>
                <a:spcPts val="600"/>
              </a:spcAft>
              <a:buSzPct val="100000"/>
            </a:pP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11</a:t>
            </a:r>
            <a:endParaRPr lang="en-US" sz="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6C3E57E8-9EB8-D2CF-970F-9141181C5F51}"/>
              </a:ext>
            </a:extLst>
          </p:cNvPr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Caso di Studio Reale 2/2</a:t>
            </a:r>
            <a:endParaRPr lang="en-US" sz="38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B0A35846-6AEA-1C8F-3032-6B1EBAF7DE05}"/>
              </a:ext>
            </a:extLst>
          </p:cNvPr>
          <p:cNvSpPr/>
          <p:nvPr/>
        </p:nvSpPr>
        <p:spPr>
          <a:xfrm>
            <a:off x="765867" y="4179561"/>
            <a:ext cx="10782414" cy="218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Analisi</a:t>
            </a:r>
            <a:r>
              <a:rPr lang="en-US" sz="1400" b="1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Meta Platforms, Inc. 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Secondo il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documento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NASDAQ_META_2023.pdf (Anno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fiscale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2023), Meta ha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riportato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un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fatturato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totale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134.902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dollari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.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L'utile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operativo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(Income from operations) è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stato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46.751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dollari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. Per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calcolare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il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margine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operativo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percentuale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Meta: (Utile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operativo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2023/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Ricavi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2023) × 100 = (46.751 / 134.902) × 100 = 34,66%</a:t>
            </a:r>
          </a:p>
          <a:p>
            <a:r>
              <a:rPr lang="en-US" sz="1400" b="1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Analisi</a:t>
            </a:r>
            <a:r>
              <a:rPr lang="en-US" sz="1400" b="1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Microsoft Corporation 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Secondo il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documento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NASDAQ_MSFT_2023.pdf (Anno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fiscale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2023,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chiuso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il 30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giugno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2023), Microsoft ha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riportato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un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fatturato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totale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211.915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dollari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.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L'utile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operativo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(Operating income) è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stato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88.523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milioni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dollari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. Per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calcolare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il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margine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operativo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percentuale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di</a:t>
            </a:r>
          </a:p>
          <a:p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Microsoft: (Utile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operativo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2023 /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Ricavi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2023) × 100 = (88.523 / 211.915) × 100 = 41,77%</a:t>
            </a:r>
          </a:p>
          <a:p>
            <a:endParaRPr lang="en-US" sz="1400" dirty="0">
              <a:solidFill>
                <a:srgbClr val="C7D4E8"/>
              </a:solidFill>
              <a:latin typeface="Poppins" pitchFamily="2" charset="77"/>
              <a:cs typeface="Poppins" pitchFamily="2" charset="77"/>
            </a:endParaRPr>
          </a:p>
          <a:p>
            <a:r>
              <a:rPr lang="en-US" sz="1400" b="1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Conclusione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Microsoft ha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registrato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il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margine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operativo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percentuale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più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elevato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(41,77% </a:t>
            </a:r>
            <a:r>
              <a:rPr lang="en-US" sz="1400" dirty="0" err="1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contro</a:t>
            </a:r>
            <a:r>
              <a:rPr lang="en-US" sz="1400" dirty="0">
                <a:solidFill>
                  <a:srgbClr val="C7D4E8"/>
                </a:solidFill>
                <a:latin typeface="Poppins" pitchFamily="2" charset="77"/>
                <a:cs typeface="Poppins" pitchFamily="2" charset="77"/>
              </a:rPr>
              <a:t> il 34,66% di Meta).</a:t>
            </a:r>
          </a:p>
          <a:p>
            <a:pPr>
              <a:spcAft>
                <a:spcPts val="600"/>
              </a:spcAft>
              <a:buSzPct val="100000"/>
            </a:pP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895EC-60F4-7BA4-AF3B-9EF01343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>
            <a:extLst>
              <a:ext uri="{FF2B5EF4-FFF2-40B4-BE49-F238E27FC236}">
                <a16:creationId xmlns:a16="http://schemas.microsoft.com/office/drawing/2014/main" id="{77AC87EC-27B4-4979-F1B4-77E5A9FC868C}"/>
              </a:ext>
            </a:extLst>
          </p:cNvPr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1"/>
                </a:solidFill>
                <a:latin typeface="Poppins" pitchFamily="2" charset="77"/>
                <a:cs typeface="Poppins" pitchFamily="2" charset="77"/>
              </a:rPr>
              <a:t>12</a:t>
            </a:r>
            <a:endParaRPr lang="en-US" sz="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3372311D-BBB8-670C-F2BE-5FEF074984DE}"/>
              </a:ext>
            </a:extLst>
          </p:cNvPr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Caso di Studio Reale 2/2</a:t>
            </a:r>
            <a:endParaRPr lang="en-US" sz="38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D8E5A6-EE2D-860B-F24F-974F08723AE0}"/>
              </a:ext>
            </a:extLst>
          </p:cNvPr>
          <p:cNvSpPr txBox="1"/>
          <p:nvPr/>
        </p:nvSpPr>
        <p:spPr>
          <a:xfrm>
            <a:off x="711926" y="2086391"/>
            <a:ext cx="6100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400" b="1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Tabella</a:t>
            </a:r>
            <a:r>
              <a:rPr lang="en-US" sz="1400" b="1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sz="1400" b="1" dirty="0" err="1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Comparativa</a:t>
            </a:r>
            <a:r>
              <a:rPr lang="en-US" sz="1400" b="1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CF8C7F-7A70-F2AB-E5E2-35F6EDFC53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373" b="21471"/>
          <a:stretch>
            <a:fillRect/>
          </a:stretch>
        </p:blipFill>
        <p:spPr>
          <a:xfrm>
            <a:off x="1497082" y="2797791"/>
            <a:ext cx="9339239" cy="3001019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A3255780-CAF9-A606-4234-DA63CFE5B3FB}"/>
              </a:ext>
            </a:extLst>
          </p:cNvPr>
          <p:cNvSpPr/>
          <p:nvPr/>
        </p:nvSpPr>
        <p:spPr>
          <a:xfrm>
            <a:off x="777239" y="1654495"/>
            <a:ext cx="56781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E8934B"/>
                </a:solidFill>
                <a:latin typeface="Poppins" pitchFamily="2" charset="77"/>
                <a:cs typeface="Poppins" pitchFamily="2" charset="77"/>
              </a:rPr>
              <a:t>Redditività</a:t>
            </a:r>
            <a:r>
              <a:rPr lang="en-US" b="1" dirty="0">
                <a:solidFill>
                  <a:srgbClr val="E893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b="1" dirty="0" err="1">
                <a:solidFill>
                  <a:srgbClr val="E8934B"/>
                </a:solidFill>
                <a:latin typeface="Poppins" pitchFamily="2" charset="77"/>
                <a:cs typeface="Poppins" pitchFamily="2" charset="77"/>
              </a:rPr>
              <a:t>operativa</a:t>
            </a:r>
            <a:r>
              <a:rPr lang="en-US" b="1" dirty="0">
                <a:solidFill>
                  <a:srgbClr val="E8934B"/>
                </a:solidFill>
                <a:latin typeface="Poppins" pitchFamily="2" charset="77"/>
                <a:cs typeface="Poppins" pitchFamily="2" charset="77"/>
              </a:rPr>
              <a:t>: Meta vs Microsoft (2023)</a:t>
            </a:r>
          </a:p>
        </p:txBody>
      </p:sp>
    </p:spTree>
    <p:extLst>
      <p:ext uri="{BB962C8B-B14F-4D97-AF65-F5344CB8AC3E}">
        <p14:creationId xmlns:p14="http://schemas.microsoft.com/office/powerpoint/2010/main" val="149364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 err="1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Conclusioni</a:t>
            </a:r>
            <a:r>
              <a:rPr lang="en-US" sz="3800" b="1" dirty="0">
                <a:solidFill>
                  <a:srgbClr val="DCE7F7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&amp; Sviluppi Futuri</a:t>
            </a:r>
            <a:endParaRPr lang="en-US" sz="38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Un RAG tradizionale fallisce sui dati finanziari. Un approccio Data-Centric — filtri sui metadati, pesi sulle tabelle e un Auditor di controllo — azzera le allucinazioni e garantisce risposte affidabili al 100% sui bilanci societari.</a:t>
            </a:r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157537" y="3128962"/>
            <a:ext cx="5486400" cy="2586038"/>
          </a:xfrm>
          <a:prstGeom prst="roundRect">
            <a:avLst>
              <a:gd name="adj" fmla="val 2192"/>
            </a:avLst>
          </a:prstGeom>
          <a:solidFill>
            <a:srgbClr val="0E2740"/>
          </a:solidFill>
          <a:ln w="15875">
            <a:solidFill>
              <a:srgbClr val="E8934B"/>
            </a:solidFill>
            <a:prstDash val="solid"/>
          </a:ln>
        </p:spPr>
        <p:txBody>
          <a:bodyPr/>
          <a:lstStyle/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31857" y="3860482"/>
            <a:ext cx="4937760" cy="174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400"/>
              </a:spcAft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GraphRAG: grafi di conoscenza per mappare relazioni societarie, filiali e fornitori tra competitor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spcAft>
                <a:spcPts val="1400"/>
              </a:spcAft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C7D4E8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Grafici e Visual Analytics: generazione automatica di curve di trend temporali a partire dai numeri estratti</a:t>
            </a:r>
            <a:endParaRPr lang="en-US" sz="1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1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13</a:t>
            </a:r>
            <a:endParaRPr lang="en-US" sz="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4AD52777-F7DF-A5F5-AFC5-524B7F055A04}"/>
              </a:ext>
            </a:extLst>
          </p:cNvPr>
          <p:cNvSpPr/>
          <p:nvPr/>
        </p:nvSpPr>
        <p:spPr>
          <a:xfrm>
            <a:off x="3406139" y="33261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Sviluppi</a:t>
            </a:r>
            <a:r>
              <a:rPr lang="en-US" b="1" dirty="0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 </a:t>
            </a:r>
            <a:r>
              <a:rPr lang="en-US" b="1" dirty="0" err="1">
                <a:solidFill>
                  <a:srgbClr val="E8934B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Futuri</a:t>
            </a:r>
            <a:endParaRPr lang="en-US" dirty="0"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B97FC22-463E-9732-40AE-3BF19449550B}"/>
              </a:ext>
            </a:extLst>
          </p:cNvPr>
          <p:cNvSpPr txBox="1"/>
          <p:nvPr/>
        </p:nvSpPr>
        <p:spPr>
          <a:xfrm>
            <a:off x="2429385" y="1908649"/>
            <a:ext cx="7333231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CFE0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Grazie per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7200" b="1" dirty="0" err="1">
                <a:solidFill>
                  <a:srgbClr val="CFE0F2"/>
                </a:solidFill>
                <a:latin typeface="Poppins" pitchFamily="34" charset="0"/>
                <a:cs typeface="Poppins" pitchFamily="34" charset="-120"/>
              </a:rPr>
              <a:t>l’Attenzione</a:t>
            </a:r>
            <a:r>
              <a:rPr lang="en-US" sz="7200" b="1" dirty="0">
                <a:solidFill>
                  <a:srgbClr val="CFE0F2"/>
                </a:solidFill>
                <a:latin typeface="Poppins" pitchFamily="34" charset="0"/>
                <a:cs typeface="Poppins" pitchFamily="34" charset="-120"/>
              </a:rPr>
              <a:t> !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1482</Words>
  <Application>Microsoft Office PowerPoint</Application>
  <PresentationFormat>Widescreen</PresentationFormat>
  <Paragraphs>154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Arial</vt:lpstr>
      <vt:lpstr>Calibri</vt:lpstr>
      <vt:lpstr>Poppins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Andrea Zucconi</cp:lastModifiedBy>
  <cp:revision>11</cp:revision>
  <dcterms:created xsi:type="dcterms:W3CDTF">2026-09-23T10:26:16Z</dcterms:created>
  <dcterms:modified xsi:type="dcterms:W3CDTF">2026-09-23T16:55:44Z</dcterms:modified>
</cp:coreProperties>
</file>